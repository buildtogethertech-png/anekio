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41b1b610-dceb-b17b-c052-3890d45f69c6}">
          <p14:sldIdLst>
            <p14:sldId id="256"/>
          </p14:sldIdLst>
        </p14:section>
        <p14:section name="Why" id="{0cdc4df3-cdf7-f23d-095e-2b9b14fcfbbf}">
          <p14:sldIdLst>
            <p14:sldId id="257"/>
            <p14:sldId id="258"/>
          </p14:sldIdLst>
        </p14:section>
        <p14:section name="Product" id="{ab450c9f-9632-8737-610c-dae799ac51f3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lose" id="{a3ee83da-ff69-122c-71c2-08f750d76dd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Anekio is a school ERP built for Indian schools: one student record shared by the office, teachers and parents, on web and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schools we meet run on registers, Excel and WhatsApp. Each works alone; none of them talk to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idea: one student record. Everything else hangs off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 desk: what needs attention today, collection trend, fee health. The office app mirrors it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Teachers do everything from the phone: attendance, their routine, leave, papers and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Parents stop calling: fees, results, attendance and notices are in the app; questions go into a tracked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Fees are the number one reason schools buy. Show the funnel: billed, collected, outstanding, and the overdue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routine knows teacher load and free periods. Exams run on deadlines and publish only when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school gets a website on its own address; admission enquiries flow straight into the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modules, one record. Nothing here is a separate product to integrate.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paths. Trial is the default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DARK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LIGHT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263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anekio.com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63640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263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anekio.com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417320" y="640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Anekio</a:t>
            </a:r>
            <a:endParaRPr lang="en-US" sz="3000" dirty="0"/>
          </a:p>
        </p:txBody>
      </p:sp>
      <p:sp>
        <p:nvSpPr>
          <p:cNvPr id="4" name="headline"/>
          <p:cNvSpPr txBox="1"/>
          <p:nvPr/>
        </p:nvSpPr>
        <p:spPr>
          <a:xfrm>
            <a:off x="640080" y="18288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Run your whole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school from 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6"/>
                </a:solidFill>
              </a:rPr>
              <a:t>one record.</a:t>
            </a:r>
            <a:endParaRPr lang="en-US" sz="4000" dirty="0"/>
          </a:p>
        </p:txBody>
      </p:sp>
      <p:sp>
        <p:nvSpPr>
          <p:cNvPr id="5" name="sub"/>
          <p:cNvSpPr txBox="1"/>
          <p:nvPr/>
        </p:nvSpPr>
        <p:spPr>
          <a:xfrm>
            <a:off x="640080" y="39319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E4"/>
                </a:solidFill>
              </a:rPr>
              <a:t>Admissions, fees, attendance, exams, routine, notices and the parent app — connected on the web and on Android.</a:t>
            </a:r>
            <a:endParaRPr lang="en-US" sz="1700" dirty="0"/>
          </a:p>
        </p:txBody>
      </p:sp>
      <p:sp>
        <p:nvSpPr>
          <p:cNvPr id="6" name="tag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School ERP for growing Indian schools</a:t>
            </a:r>
            <a:endParaRPr lang="en-US" sz="1300" dirty="0"/>
          </a:p>
        </p:txBody>
      </p:sp>
      <p:pic>
        <p:nvPicPr>
          <p:cNvPr id="7" name="Image 1" descr="framed/office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577840" cy="3887394"/>
          </a:xfrm>
          <a:prstGeom prst="rect">
            <a:avLst/>
          </a:prstGeom>
        </p:spPr>
      </p:pic>
      <p:pic>
        <p:nvPicPr>
          <p:cNvPr id="8" name="Image 2" descr="framed/01-parent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377440"/>
            <a:ext cx="1737360" cy="33961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Registers, Excel and WhatsApp groups don't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52400" dist="38100" dir="5400000">
              <a:srgbClr val="0B15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6" name="pain icon 1"/>
          <p:cNvSpPr txBox="1"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7" name="pain title 1"/>
          <p:cNvSpPr txBox="1"/>
          <p:nvPr/>
        </p:nvSpPr>
        <p:spPr>
          <a:xfrm>
            <a:off x="14630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Fees in a notebook</a:t>
            </a:r>
            <a:endParaRPr lang="en-US" sz="2000" dirty="0"/>
          </a:p>
        </p:txBody>
      </p:sp>
      <p:sp>
        <p:nvSpPr>
          <p:cNvPr id="8" name="pain body 1"/>
          <p:cNvSpPr txBox="1"/>
          <p:nvPr/>
        </p:nvSpPr>
        <p:spPr>
          <a:xfrm>
            <a:off x="1463040" y="2423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Who paid, who's overdue and how much is a half-day reconciliation.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52400" dist="38100" dir="5400000">
              <a:srgbClr val="0B153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11" name="pain icon 2"/>
          <p:cNvSpPr txBox="1"/>
          <p:nvPr/>
        </p:nvSpPr>
        <p:spPr>
          <a:xfrm>
            <a:off x="6492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12" name="pain title 2"/>
          <p:cNvSpPr txBox="1"/>
          <p:nvPr/>
        </p:nvSpPr>
        <p:spPr>
          <a:xfrm>
            <a:off x="713232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Attendance on paper</a:t>
            </a:r>
            <a:endParaRPr lang="en-US" sz="2000" dirty="0"/>
          </a:p>
        </p:txBody>
      </p:sp>
      <p:sp>
        <p:nvSpPr>
          <p:cNvPr id="13" name="pain body 2"/>
          <p:cNvSpPr txBox="1"/>
          <p:nvPr/>
        </p:nvSpPr>
        <p:spPr>
          <a:xfrm>
            <a:off x="7132320" y="2423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office learns about absences at month end.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52400" dist="38100" dir="5400000">
              <a:srgbClr val="0B153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16" name="pain icon 3"/>
          <p:cNvSpPr txBox="1"/>
          <p:nvPr/>
        </p:nvSpPr>
        <p:spPr>
          <a:xfrm>
            <a:off x="822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17" name="pain title 3"/>
          <p:cNvSpPr txBox="1"/>
          <p:nvPr/>
        </p:nvSpPr>
        <p:spPr>
          <a:xfrm>
            <a:off x="146304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Results by photo</a:t>
            </a:r>
            <a:endParaRPr lang="en-US" sz="2000" dirty="0"/>
          </a:p>
        </p:txBody>
      </p:sp>
      <p:sp>
        <p:nvSpPr>
          <p:cNvPr id="18" name="pain body 3"/>
          <p:cNvSpPr txBox="1"/>
          <p:nvPr/>
        </p:nvSpPr>
        <p:spPr>
          <a:xfrm>
            <a:off x="1463040" y="4572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Marks typed twice; report cards made in Word.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394960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52400" dist="38100" dir="5400000">
              <a:srgbClr val="0B153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41648"/>
            <a:ext cx="457200" cy="457200"/>
          </a:xfrm>
          <a:prstGeom prst="ellipse">
            <a:avLst/>
          </a:prstGeom>
          <a:solidFill>
            <a:srgbClr val="FDE8E8"/>
          </a:solidFill>
          <a:ln/>
        </p:spPr>
      </p:sp>
      <p:sp>
        <p:nvSpPr>
          <p:cNvPr id="21" name="pain icon 4"/>
          <p:cNvSpPr txBox="1"/>
          <p:nvPr/>
        </p:nvSpPr>
        <p:spPr>
          <a:xfrm>
            <a:off x="64922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✕</a:t>
            </a:r>
            <a:endParaRPr lang="en-US" sz="1600" dirty="0"/>
          </a:p>
        </p:txBody>
      </p:sp>
      <p:sp>
        <p:nvSpPr>
          <p:cNvPr id="22" name="pain title 4"/>
          <p:cNvSpPr txBox="1"/>
          <p:nvPr/>
        </p:nvSpPr>
        <p:spPr>
          <a:xfrm>
            <a:off x="713232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Parents call the office</a:t>
            </a:r>
            <a:endParaRPr lang="en-US" sz="2000" dirty="0"/>
          </a:p>
        </p:txBody>
      </p:sp>
      <p:sp>
        <p:nvSpPr>
          <p:cNvPr id="23" name="pain body 4"/>
          <p:cNvSpPr txBox="1"/>
          <p:nvPr/>
        </p:nvSpPr>
        <p:spPr>
          <a:xfrm>
            <a:off x="7132320" y="4572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same five questions, every day, to whoever picks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ONE PLATFORM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Capture once. Use everywhere.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77800" dist="50800" dir="5400000">
              <a:srgbClr val="0B15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40080" cy="640080"/>
          </a:xfrm>
          <a:prstGeom prst="roundRect">
            <a:avLst>
              <a:gd name="adj" fmla="val 2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1"/>
          <p:cNvSpPr txBox="1"/>
          <p:nvPr/>
        </p:nvSpPr>
        <p:spPr>
          <a:xfrm>
            <a:off x="8686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tep title 1"/>
          <p:cNvSpPr txBox="1"/>
          <p:nvPr/>
        </p:nvSpPr>
        <p:spPr>
          <a:xfrm>
            <a:off x="86868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Admit the student</a:t>
            </a:r>
            <a:endParaRPr lang="en-US" sz="1900" dirty="0"/>
          </a:p>
        </p:txBody>
      </p:sp>
      <p:sp>
        <p:nvSpPr>
          <p:cNvPr id="8" name="step body 1"/>
          <p:cNvSpPr txBox="1"/>
          <p:nvPr/>
        </p:nvSpPr>
        <p:spPr>
          <a:xfrm>
            <a:off x="86868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admission form becomes the working student file: class, parent, documents, billing month.</a:t>
            </a:r>
            <a:endParaRPr lang="en-US" sz="1400" dirty="0"/>
          </a:p>
        </p:txBody>
      </p:sp>
      <p:sp>
        <p:nvSpPr>
          <p:cNvPr id="9" name="arrow 1"/>
          <p:cNvSpPr txBox="1"/>
          <p:nvPr/>
        </p:nvSpPr>
        <p:spPr>
          <a:xfrm>
            <a:off x="4114800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566160" cy="283464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77800" dist="50800" dir="5400000">
              <a:srgbClr val="0B153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57400"/>
            <a:ext cx="640080" cy="640080"/>
          </a:xfrm>
          <a:prstGeom prst="roundRect">
            <a:avLst>
              <a:gd name="adj" fmla="val 2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ep 2"/>
          <p:cNvSpPr txBox="1"/>
          <p:nvPr/>
        </p:nvSpPr>
        <p:spPr>
          <a:xfrm>
            <a:off x="46634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tep title 2"/>
          <p:cNvSpPr txBox="1"/>
          <p:nvPr/>
        </p:nvSpPr>
        <p:spPr>
          <a:xfrm>
            <a:off x="46634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Every team works on it</a:t>
            </a:r>
            <a:endParaRPr lang="en-US" sz="1900" dirty="0"/>
          </a:p>
        </p:txBody>
      </p:sp>
      <p:sp>
        <p:nvSpPr>
          <p:cNvPr id="14" name="step body 2"/>
          <p:cNvSpPr txBox="1"/>
          <p:nvPr/>
        </p:nvSpPr>
        <p:spPr>
          <a:xfrm>
            <a:off x="466344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Fees, attendance, exams, routine and notices read and write the same record.</a:t>
            </a:r>
            <a:endParaRPr lang="en-US" sz="1400" dirty="0"/>
          </a:p>
        </p:txBody>
      </p:sp>
      <p:sp>
        <p:nvSpPr>
          <p:cNvPr id="15" name="arrow 2"/>
          <p:cNvSpPr txBox="1"/>
          <p:nvPr/>
        </p:nvSpPr>
        <p:spPr>
          <a:xfrm>
            <a:off x="7909560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566160" cy="283464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77800" dist="50800" dir="5400000">
              <a:srgbClr val="0B153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057400"/>
            <a:ext cx="640080" cy="640080"/>
          </a:xfrm>
          <a:prstGeom prst="roundRect">
            <a:avLst>
              <a:gd name="adj" fmla="val 2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tep 3"/>
          <p:cNvSpPr txBox="1"/>
          <p:nvPr/>
        </p:nvSpPr>
        <p:spPr>
          <a:xfrm>
            <a:off x="8458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tep title 3"/>
          <p:cNvSpPr txBox="1"/>
          <p:nvPr/>
        </p:nvSpPr>
        <p:spPr>
          <a:xfrm>
            <a:off x="84582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Each role sees what it needs</a:t>
            </a:r>
            <a:endParaRPr lang="en-US" sz="1900" dirty="0"/>
          </a:p>
        </p:txBody>
      </p:sp>
      <p:sp>
        <p:nvSpPr>
          <p:cNvPr id="20" name="step body 3"/>
          <p:cNvSpPr txBox="1"/>
          <p:nvPr/>
        </p:nvSpPr>
        <p:spPr>
          <a:xfrm>
            <a:off x="845820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Office gets control, teachers get their classes, parents get their child.</a:t>
            </a:r>
            <a:endParaRPr lang="en-US" sz="1400" dirty="0"/>
          </a:p>
        </p:txBody>
      </p:sp>
      <p:sp>
        <p:nvSpPr>
          <p:cNvPr id="21" name="footnote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Web portal for the office · Android app for teachers and parents · the same data in both.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6"/>
                </a:solidFill>
              </a:rPr>
              <a:t>FOR THE OFFICE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See the whole day before it starts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3969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check mark"/>
          <p:cNvSpPr txBox="1"/>
          <p:nvPr/>
        </p:nvSpPr>
        <p:spPr>
          <a:xfrm>
            <a:off x="544068" y="213055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point"/>
          <p:cNvSpPr txBox="1"/>
          <p:nvPr/>
        </p:nvSpPr>
        <p:spPr>
          <a:xfrm>
            <a:off x="896112" y="21031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Timetable gaps, absent teachers and overdue fees on one desk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4261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check mark"/>
          <p:cNvSpPr txBox="1"/>
          <p:nvPr/>
        </p:nvSpPr>
        <p:spPr>
          <a:xfrm>
            <a:off x="544068" y="263347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point"/>
          <p:cNvSpPr txBox="1"/>
          <p:nvPr/>
        </p:nvSpPr>
        <p:spPr>
          <a:xfrm>
            <a:off x="896112" y="26060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Fees register with UPI, cash, pay-link and bank collection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check mark"/>
          <p:cNvSpPr txBox="1"/>
          <p:nvPr/>
        </p:nvSpPr>
        <p:spPr>
          <a:xfrm>
            <a:off x="544068" y="31363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point"/>
          <p:cNvSpPr txBox="1"/>
          <p:nvPr/>
        </p:nvSpPr>
        <p:spPr>
          <a:xfrm>
            <a:off x="896112" y="31089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Attendance overview across every class by 10 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check mark"/>
          <p:cNvSpPr txBox="1"/>
          <p:nvPr/>
        </p:nvSpPr>
        <p:spPr>
          <a:xfrm>
            <a:off x="544068" y="363931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point"/>
          <p:cNvSpPr txBox="1"/>
          <p:nvPr/>
        </p:nvSpPr>
        <p:spPr>
          <a:xfrm>
            <a:off x="896112" y="36118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Notices to parents, teachers or students with a preview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check mark"/>
          <p:cNvSpPr txBox="1"/>
          <p:nvPr/>
        </p:nvSpPr>
        <p:spPr>
          <a:xfrm>
            <a:off x="544068" y="414223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point"/>
          <p:cNvSpPr txBox="1"/>
          <p:nvPr/>
        </p:nvSpPr>
        <p:spPr>
          <a:xfrm>
            <a:off x="896112" y="41148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Roles &amp; permissions, decided area by area</a:t>
            </a:r>
            <a:endParaRPr lang="en-US" sz="1500" dirty="0"/>
          </a:p>
        </p:txBody>
      </p:sp>
      <p:pic>
        <p:nvPicPr>
          <p:cNvPr id="19" name="Image 0" descr="framed/offic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548640"/>
            <a:ext cx="5669280" cy="3951121"/>
          </a:xfrm>
          <a:prstGeom prst="rect">
            <a:avLst/>
          </a:prstGeom>
        </p:spPr>
      </p:pic>
      <p:pic>
        <p:nvPicPr>
          <p:cNvPr id="20" name="Image 1" descr="framed/08-office-fees-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651760"/>
            <a:ext cx="1783080" cy="34854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FOR TEACHERS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Lose the paperwork, not the control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check mark"/>
          <p:cNvSpPr txBox="1"/>
          <p:nvPr/>
        </p:nvSpPr>
        <p:spPr>
          <a:xfrm>
            <a:off x="544068" y="167335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point"/>
          <p:cNvSpPr txBox="1"/>
          <p:nvPr/>
        </p:nvSpPr>
        <p:spPr>
          <a:xfrm>
            <a:off x="896112" y="16459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Mark a whole class present in under a minute (P / L / A)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3113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check mark"/>
          <p:cNvSpPr txBox="1"/>
          <p:nvPr/>
        </p:nvSpPr>
        <p:spPr>
          <a:xfrm>
            <a:off x="544068" y="22219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point"/>
          <p:cNvSpPr txBox="1"/>
          <p:nvPr/>
        </p:nvSpPr>
        <p:spPr>
          <a:xfrm>
            <a:off x="896112" y="21945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Own timetable with recess and rooms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check mark"/>
          <p:cNvSpPr txBox="1"/>
          <p:nvPr/>
        </p:nvSpPr>
        <p:spPr>
          <a:xfrm>
            <a:off x="544068" y="277063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point"/>
          <p:cNvSpPr txBox="1"/>
          <p:nvPr/>
        </p:nvSpPr>
        <p:spPr>
          <a:xfrm>
            <a:off x="896112" y="2743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Question-paper handover and marks entry with deadlines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check mark"/>
          <p:cNvSpPr txBox="1"/>
          <p:nvPr/>
        </p:nvSpPr>
        <p:spPr>
          <a:xfrm>
            <a:off x="544068" y="331927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point"/>
          <p:cNvSpPr txBox="1"/>
          <p:nvPr/>
        </p:nvSpPr>
        <p:spPr>
          <a:xfrm>
            <a:off x="896112" y="32918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Apply for leave; balance and approver shown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check mark"/>
          <p:cNvSpPr txBox="1"/>
          <p:nvPr/>
        </p:nvSpPr>
        <p:spPr>
          <a:xfrm>
            <a:off x="544068" y="386791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point"/>
          <p:cNvSpPr txBox="1"/>
          <p:nvPr/>
        </p:nvSpPr>
        <p:spPr>
          <a:xfrm>
            <a:off x="896112" y="38404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Teacher QR for the school's attendance scanner</a:t>
            </a:r>
            <a:endParaRPr lang="en-US" sz="1500" dirty="0"/>
          </a:p>
        </p:txBody>
      </p:sp>
      <p:pic>
        <p:nvPicPr>
          <p:cNvPr id="19" name="Image 0" descr="framed/05-teacher-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83080"/>
            <a:ext cx="1783080" cy="3485478"/>
          </a:xfrm>
          <a:prstGeom prst="rect">
            <a:avLst/>
          </a:prstGeom>
        </p:spPr>
      </p:pic>
      <p:pic>
        <p:nvPicPr>
          <p:cNvPr id="20" name="Image 1" descr="framed/06-teacher-time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0"/>
            <a:ext cx="1783080" cy="3485478"/>
          </a:xfrm>
          <a:prstGeom prst="rect">
            <a:avLst/>
          </a:prstGeom>
        </p:spPr>
      </p:pic>
      <p:pic>
        <p:nvPicPr>
          <p:cNvPr id="21" name="Image 2" descr="framed/04-teacher-apply-le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783080"/>
            <a:ext cx="1783080" cy="34854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6"/>
                </a:solidFill>
              </a:rPr>
              <a:t>FOR PARENTS</a:t>
            </a:r>
            <a:endParaRPr lang="en-US" sz="11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6858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Answers without calling the school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3969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check mark"/>
          <p:cNvSpPr txBox="1"/>
          <p:nvPr/>
        </p:nvSpPr>
        <p:spPr>
          <a:xfrm>
            <a:off x="544068" y="213055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point"/>
          <p:cNvSpPr txBox="1"/>
          <p:nvPr/>
        </p:nvSpPr>
        <p:spPr>
          <a:xfrm>
            <a:off x="896112" y="21031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Attendance, last result and fees due at a glance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4261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check mark"/>
          <p:cNvSpPr txBox="1"/>
          <p:nvPr/>
        </p:nvSpPr>
        <p:spPr>
          <a:xfrm>
            <a:off x="544068" y="263347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point"/>
          <p:cNvSpPr txBox="1"/>
          <p:nvPr/>
        </p:nvSpPr>
        <p:spPr>
          <a:xfrm>
            <a:off x="896112" y="26060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Pay now with UPI; receipts download to the phone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check mark"/>
          <p:cNvSpPr txBox="1"/>
          <p:nvPr/>
        </p:nvSpPr>
        <p:spPr>
          <a:xfrm>
            <a:off x="544068" y="31363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point"/>
          <p:cNvSpPr txBox="1"/>
          <p:nvPr/>
        </p:nvSpPr>
        <p:spPr>
          <a:xfrm>
            <a:off x="896112" y="31089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Subject-wise marks and the report card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4" name="check mark"/>
          <p:cNvSpPr txBox="1"/>
          <p:nvPr/>
        </p:nvSpPr>
        <p:spPr>
          <a:xfrm>
            <a:off x="544068" y="363931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point"/>
          <p:cNvSpPr txBox="1"/>
          <p:nvPr/>
        </p:nvSpPr>
        <p:spPr>
          <a:xfrm>
            <a:off x="896112" y="36118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Attendance calendar; switch between children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237744" cy="23774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check mark"/>
          <p:cNvSpPr txBox="1"/>
          <p:nvPr/>
        </p:nvSpPr>
        <p:spPr>
          <a:xfrm>
            <a:off x="544068" y="414223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point"/>
          <p:cNvSpPr txBox="1"/>
          <p:nvPr/>
        </p:nvSpPr>
        <p:spPr>
          <a:xfrm>
            <a:off x="896112" y="41148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numbered request thread to the office or class teacher</a:t>
            </a:r>
            <a:endParaRPr lang="en-US" sz="1500" dirty="0"/>
          </a:p>
        </p:txBody>
      </p:sp>
      <p:pic>
        <p:nvPicPr>
          <p:cNvPr id="19" name="Image 0" descr="framed/01-par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83080"/>
            <a:ext cx="1783080" cy="3485478"/>
          </a:xfrm>
          <a:prstGeom prst="rect">
            <a:avLst/>
          </a:prstGeom>
        </p:spPr>
      </p:pic>
      <p:pic>
        <p:nvPicPr>
          <p:cNvPr id="20" name="Image 1" descr="framed/17-parent-exam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0"/>
            <a:ext cx="1783080" cy="3485478"/>
          </a:xfrm>
          <a:prstGeom prst="rect">
            <a:avLst/>
          </a:prstGeom>
        </p:spPr>
      </p:pic>
      <p:pic>
        <p:nvPicPr>
          <p:cNvPr id="21" name="Image 2" descr="framed/02-parent-message-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783080"/>
            <a:ext cx="1783080" cy="34854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FEES &amp; COLLECTIONS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invoice to receipt without a register</a:t>
            </a:r>
            <a:endParaRPr lang="en-US" sz="3400" dirty="0"/>
          </a:p>
        </p:txBody>
      </p:sp>
      <p:pic>
        <p:nvPicPr>
          <p:cNvPr id="4" name="Image 0" descr="framed/11-office-fees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456792"/>
          </a:xfrm>
          <a:prstGeom prst="rect">
            <a:avLst/>
          </a:prstGeom>
        </p:spPr>
      </p:pic>
      <p:pic>
        <p:nvPicPr>
          <p:cNvPr id="5" name="Image 1" descr="framed/10-office-collect-f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1920240" cy="375359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052560" y="177393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check mark"/>
          <p:cNvSpPr txBox="1"/>
          <p:nvPr/>
        </p:nvSpPr>
        <p:spPr>
          <a:xfrm>
            <a:off x="9047988" y="17647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point"/>
          <p:cNvSpPr txBox="1"/>
          <p:nvPr/>
        </p:nvSpPr>
        <p:spPr>
          <a:xfrm>
            <a:off x="9400032" y="1737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Fee structures, late rules, add-ons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9052560" y="2340864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check mark"/>
          <p:cNvSpPr txBox="1"/>
          <p:nvPr/>
        </p:nvSpPr>
        <p:spPr>
          <a:xfrm>
            <a:off x="9047988" y="2331720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point"/>
          <p:cNvSpPr txBox="1"/>
          <p:nvPr/>
        </p:nvSpPr>
        <p:spPr>
          <a:xfrm>
            <a:off x="9400032" y="23042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Billed vs collected vs outstanding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052560" y="2907792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check mark"/>
          <p:cNvSpPr txBox="1"/>
          <p:nvPr/>
        </p:nvSpPr>
        <p:spPr>
          <a:xfrm>
            <a:off x="9047988" y="2898648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point"/>
          <p:cNvSpPr txBox="1"/>
          <p:nvPr/>
        </p:nvSpPr>
        <p:spPr>
          <a:xfrm>
            <a:off x="9400032" y="28712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Overdue list: who to call first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052560" y="3474720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check mark"/>
          <p:cNvSpPr txBox="1"/>
          <p:nvPr/>
        </p:nvSpPr>
        <p:spPr>
          <a:xfrm>
            <a:off x="9047988" y="3465576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point"/>
          <p:cNvSpPr txBox="1"/>
          <p:nvPr/>
        </p:nvSpPr>
        <p:spPr>
          <a:xfrm>
            <a:off x="9400032" y="3438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Pay links and auto reminders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052560" y="404164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check mark"/>
          <p:cNvSpPr txBox="1"/>
          <p:nvPr/>
        </p:nvSpPr>
        <p:spPr>
          <a:xfrm>
            <a:off x="9047988" y="4032504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point"/>
          <p:cNvSpPr txBox="1"/>
          <p:nvPr/>
        </p:nvSpPr>
        <p:spPr>
          <a:xfrm>
            <a:off x="9400032" y="40050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Receipts with stamp, signature and QR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ROUTINE &amp; EXAMS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routine that knows every teacher's day</a:t>
            </a:r>
            <a:endParaRPr lang="en-US" sz="3400" dirty="0"/>
          </a:p>
        </p:txBody>
      </p:sp>
      <p:pic>
        <p:nvPicPr>
          <p:cNvPr id="4" name="Image 0" descr="framed/14-office-routine-desktop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223760" cy="4292439"/>
          </a:xfrm>
          <a:prstGeom prst="rect">
            <a:avLst/>
          </a:prstGeom>
        </p:spPr>
      </p:pic>
      <p:sp>
        <p:nvSpPr>
          <p:cNvPr id="5" name="routine head"/>
          <p:cNvSpPr txBox="1"/>
          <p:nvPr/>
        </p:nvSpPr>
        <p:spPr>
          <a:xfrm>
            <a:off x="80467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Routine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046720" y="195681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check mark"/>
          <p:cNvSpPr txBox="1"/>
          <p:nvPr/>
        </p:nvSpPr>
        <p:spPr>
          <a:xfrm>
            <a:off x="8042148" y="194767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point"/>
          <p:cNvSpPr txBox="1"/>
          <p:nvPr/>
        </p:nvSpPr>
        <p:spPr>
          <a:xfrm>
            <a:off x="8394192" y="19202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Per-class and per-teacher views, PDF export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46720" y="241401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check mark"/>
          <p:cNvSpPr txBox="1"/>
          <p:nvPr/>
        </p:nvSpPr>
        <p:spPr>
          <a:xfrm>
            <a:off x="8042148" y="240487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point"/>
          <p:cNvSpPr txBox="1"/>
          <p:nvPr/>
        </p:nvSpPr>
        <p:spPr>
          <a:xfrm>
            <a:off x="8394192" y="23774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Auto-fill empty periods from targets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46720" y="287121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check mark"/>
          <p:cNvSpPr txBox="1"/>
          <p:nvPr/>
        </p:nvSpPr>
        <p:spPr>
          <a:xfrm>
            <a:off x="8042148" y="286207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point"/>
          <p:cNvSpPr txBox="1"/>
          <p:nvPr/>
        </p:nvSpPr>
        <p:spPr>
          <a:xfrm>
            <a:off x="8394192" y="2834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Substitutions when a teacher is on leave</a:t>
            </a:r>
            <a:endParaRPr lang="en-US" sz="1500" dirty="0"/>
          </a:p>
        </p:txBody>
      </p:sp>
      <p:sp>
        <p:nvSpPr>
          <p:cNvPr id="15" name="exams head"/>
          <p:cNvSpPr txBox="1"/>
          <p:nvPr/>
        </p:nvSpPr>
        <p:spPr>
          <a:xfrm>
            <a:off x="80467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Exams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046720" y="405993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check mark"/>
          <p:cNvSpPr txBox="1"/>
          <p:nvPr/>
        </p:nvSpPr>
        <p:spPr>
          <a:xfrm>
            <a:off x="8042148" y="40507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point"/>
          <p:cNvSpPr txBox="1"/>
          <p:nvPr/>
        </p:nvSpPr>
        <p:spPr>
          <a:xfrm>
            <a:off x="8394192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Dates and timings across classes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46720" y="451713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check mark"/>
          <p:cNvSpPr txBox="1"/>
          <p:nvPr/>
        </p:nvSpPr>
        <p:spPr>
          <a:xfrm>
            <a:off x="8042148" y="45079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point"/>
          <p:cNvSpPr txBox="1"/>
          <p:nvPr/>
        </p:nvSpPr>
        <p:spPr>
          <a:xfrm>
            <a:off x="8394192" y="4480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Paper setter / checker deadlines, handover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046720" y="497433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check mark"/>
          <p:cNvSpPr txBox="1"/>
          <p:nvPr/>
        </p:nvSpPr>
        <p:spPr>
          <a:xfrm>
            <a:off x="8042148" y="49651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point"/>
          <p:cNvSpPr txBox="1"/>
          <p:nvPr/>
        </p:nvSpPr>
        <p:spPr>
          <a:xfrm>
            <a:off x="8394192" y="49377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Publish once every mark is in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046720" y="543153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check mark"/>
          <p:cNvSpPr txBox="1"/>
          <p:nvPr/>
        </p:nvSpPr>
        <p:spPr>
          <a:xfrm>
            <a:off x="8042148" y="5422392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point"/>
          <p:cNvSpPr txBox="1"/>
          <p:nvPr/>
        </p:nvSpPr>
        <p:spPr>
          <a:xfrm>
            <a:off x="8394192" y="53949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 cards parents can download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DOCUMENTS &amp; YOUR WEBSITE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Everything looks like it came from your school</a:t>
            </a:r>
            <a:endParaRPr lang="en-US" sz="3400" dirty="0"/>
          </a:p>
        </p:txBody>
      </p:sp>
      <p:pic>
        <p:nvPicPr>
          <p:cNvPr id="4" name="Image 0" descr="framed/13-fee-rece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486400" cy="3250739"/>
          </a:xfrm>
          <a:prstGeom prst="rect">
            <a:avLst/>
          </a:prstGeom>
        </p:spPr>
      </p:pic>
      <p:pic>
        <p:nvPicPr>
          <p:cNvPr id="5" name="Image 1" descr="framed/16-school-web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3228943"/>
          </a:xfrm>
          <a:prstGeom prst="rect">
            <a:avLst/>
          </a:prstGeom>
        </p:spPr>
      </p:pic>
      <p:sp>
        <p:nvSpPr>
          <p:cNvPr id="6" name="doc caption"/>
          <p:cNvSpPr txBox="1"/>
          <p:nvPr/>
        </p:nvSpPr>
        <p:spPr>
          <a:xfrm>
            <a:off x="548640" y="48463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Receipts, report cards and ID cards print with your letterhead, stamp and signature.</a:t>
            </a:r>
            <a:endParaRPr lang="en-US" sz="1400" dirty="0"/>
          </a:p>
        </p:txBody>
      </p:sp>
      <p:sp>
        <p:nvSpPr>
          <p:cNvPr id="7" name="site caption"/>
          <p:cNvSpPr txBox="1"/>
          <p:nvPr/>
        </p:nvSpPr>
        <p:spPr>
          <a:xfrm>
            <a:off x="6309360" y="48463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public school website with admissions built in — enquiries land in the office pipeline.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EVERYTHING, CONNECTED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Modules that already know each other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module 1"/>
          <p:cNvSpPr txBox="1"/>
          <p:nvPr/>
        </p:nvSpPr>
        <p:spPr>
          <a:xfrm>
            <a:off x="118872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Admissions</a:t>
            </a:r>
            <a:endParaRPr lang="en-US" sz="1600" dirty="0"/>
          </a:p>
        </p:txBody>
      </p:sp>
      <p:sp>
        <p:nvSpPr>
          <p:cNvPr id="7" name="module body 1"/>
          <p:cNvSpPr txBox="1"/>
          <p:nvPr/>
        </p:nvSpPr>
        <p:spPr>
          <a:xfrm>
            <a:off x="77724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Leads, follow-ups, tests, Excel import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7830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module 2"/>
          <p:cNvSpPr txBox="1"/>
          <p:nvPr/>
        </p:nvSpPr>
        <p:spPr>
          <a:xfrm>
            <a:off x="402336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Fees</a:t>
            </a:r>
            <a:endParaRPr lang="en-US" sz="1600" dirty="0"/>
          </a:p>
        </p:txBody>
      </p:sp>
      <p:sp>
        <p:nvSpPr>
          <p:cNvPr id="11" name="module body 2"/>
          <p:cNvSpPr txBox="1"/>
          <p:nvPr/>
        </p:nvSpPr>
        <p:spPr>
          <a:xfrm>
            <a:off x="361188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Invoices, UPI, receipts, reminders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78308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module 3"/>
          <p:cNvSpPr txBox="1"/>
          <p:nvPr/>
        </p:nvSpPr>
        <p:spPr>
          <a:xfrm>
            <a:off x="685800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Attendance</a:t>
            </a:r>
            <a:endParaRPr lang="en-US" sz="1600" dirty="0"/>
          </a:p>
        </p:txBody>
      </p:sp>
      <p:sp>
        <p:nvSpPr>
          <p:cNvPr id="15" name="module body 3"/>
          <p:cNvSpPr txBox="1"/>
          <p:nvPr/>
        </p:nvSpPr>
        <p:spPr>
          <a:xfrm>
            <a:off x="644652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Class register, QR check-in, month 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81160" y="1783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module 4"/>
          <p:cNvSpPr txBox="1"/>
          <p:nvPr/>
        </p:nvSpPr>
        <p:spPr>
          <a:xfrm>
            <a:off x="969264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Exams</a:t>
            </a:r>
            <a:endParaRPr lang="en-US" sz="1600" dirty="0"/>
          </a:p>
        </p:txBody>
      </p:sp>
      <p:sp>
        <p:nvSpPr>
          <p:cNvPr id="19" name="module body 4"/>
          <p:cNvSpPr txBox="1"/>
          <p:nvPr/>
        </p:nvSpPr>
        <p:spPr>
          <a:xfrm>
            <a:off x="9281160" y="22128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Timings, papers, marks, report cards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2918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module 5"/>
          <p:cNvSpPr txBox="1"/>
          <p:nvPr/>
        </p:nvSpPr>
        <p:spPr>
          <a:xfrm>
            <a:off x="118872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Routine</a:t>
            </a:r>
            <a:endParaRPr lang="en-US" sz="1600" dirty="0"/>
          </a:p>
        </p:txBody>
      </p:sp>
      <p:sp>
        <p:nvSpPr>
          <p:cNvPr id="23" name="module body 5"/>
          <p:cNvSpPr txBox="1"/>
          <p:nvPr/>
        </p:nvSpPr>
        <p:spPr>
          <a:xfrm>
            <a:off x="777240" y="3721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Drag-and-drop, clash detection, PDF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306324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32918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module 6"/>
          <p:cNvSpPr txBox="1"/>
          <p:nvPr/>
        </p:nvSpPr>
        <p:spPr>
          <a:xfrm>
            <a:off x="402336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Parent inbox</a:t>
            </a:r>
            <a:endParaRPr lang="en-US" sz="1600" dirty="0"/>
          </a:p>
        </p:txBody>
      </p:sp>
      <p:sp>
        <p:nvSpPr>
          <p:cNvPr id="27" name="module body 6"/>
          <p:cNvSpPr txBox="1"/>
          <p:nvPr/>
        </p:nvSpPr>
        <p:spPr>
          <a:xfrm>
            <a:off x="3611880" y="3721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Request threads, notices, WhatsApp-ready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306324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329184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module 7"/>
          <p:cNvSpPr txBox="1"/>
          <p:nvPr/>
        </p:nvSpPr>
        <p:spPr>
          <a:xfrm>
            <a:off x="685800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&amp; leave</a:t>
            </a:r>
            <a:endParaRPr lang="en-US" sz="1600" dirty="0"/>
          </a:p>
        </p:txBody>
      </p:sp>
      <p:sp>
        <p:nvSpPr>
          <p:cNvPr id="31" name="module body 7"/>
          <p:cNvSpPr txBox="1"/>
          <p:nvPr/>
        </p:nvSpPr>
        <p:spPr>
          <a:xfrm>
            <a:off x="6446520" y="3721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Balances, approvals, payroll with proof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52560" y="306324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81160" y="329184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module 8"/>
          <p:cNvSpPr txBox="1"/>
          <p:nvPr/>
        </p:nvSpPr>
        <p:spPr>
          <a:xfrm>
            <a:off x="969264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Roles</a:t>
            </a:r>
            <a:endParaRPr lang="en-US" sz="1600" dirty="0"/>
          </a:p>
        </p:txBody>
      </p:sp>
      <p:sp>
        <p:nvSpPr>
          <p:cNvPr id="35" name="module body 8"/>
          <p:cNvSpPr txBox="1"/>
          <p:nvPr/>
        </p:nvSpPr>
        <p:spPr>
          <a:xfrm>
            <a:off x="9281160" y="37216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Who can view or edit each area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7240" y="48006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module 9"/>
          <p:cNvSpPr txBox="1"/>
          <p:nvPr/>
        </p:nvSpPr>
        <p:spPr>
          <a:xfrm>
            <a:off x="1188720" y="4754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School website</a:t>
            </a:r>
            <a:endParaRPr lang="en-US" sz="1600" dirty="0"/>
          </a:p>
        </p:txBody>
      </p:sp>
      <p:sp>
        <p:nvSpPr>
          <p:cNvPr id="39" name="module body 9"/>
          <p:cNvSpPr txBox="1"/>
          <p:nvPr/>
        </p:nvSpPr>
        <p:spPr>
          <a:xfrm>
            <a:off x="777240" y="52303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Public site with admissions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83280" y="457200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11880" y="480060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module 10"/>
          <p:cNvSpPr txBox="1"/>
          <p:nvPr/>
        </p:nvSpPr>
        <p:spPr>
          <a:xfrm>
            <a:off x="4023360" y="4754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Documents</a:t>
            </a:r>
            <a:endParaRPr lang="en-US" sz="1600" dirty="0"/>
          </a:p>
        </p:txBody>
      </p:sp>
      <p:sp>
        <p:nvSpPr>
          <p:cNvPr id="43" name="module body 10"/>
          <p:cNvSpPr txBox="1"/>
          <p:nvPr/>
        </p:nvSpPr>
        <p:spPr>
          <a:xfrm>
            <a:off x="3611880" y="52303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Letterhead, stamp, signature, ID cards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0" y="457200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46520" y="480060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6" name="module 11"/>
          <p:cNvSpPr txBox="1"/>
          <p:nvPr/>
        </p:nvSpPr>
        <p:spPr>
          <a:xfrm>
            <a:off x="6858000" y="4754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Notices</a:t>
            </a:r>
            <a:endParaRPr lang="en-US" sz="1600" dirty="0"/>
          </a:p>
        </p:txBody>
      </p:sp>
      <p:sp>
        <p:nvSpPr>
          <p:cNvPr id="47" name="module body 11"/>
          <p:cNvSpPr txBox="1"/>
          <p:nvPr/>
        </p:nvSpPr>
        <p:spPr>
          <a:xfrm>
            <a:off x="6446520" y="52303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Preview, then send to any group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052560" y="4572000"/>
            <a:ext cx="2651760" cy="1325880"/>
          </a:xfrm>
          <a:prstGeom prst="roundRect">
            <a:avLst>
              <a:gd name="adj" fmla="val 11034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81160" y="480060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0" name="module 12"/>
          <p:cNvSpPr txBox="1"/>
          <p:nvPr/>
        </p:nvSpPr>
        <p:spPr>
          <a:xfrm>
            <a:off x="9692640" y="4754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 portal</a:t>
            </a:r>
            <a:endParaRPr lang="en-US" sz="1600" dirty="0"/>
          </a:p>
        </p:txBody>
      </p:sp>
      <p:sp>
        <p:nvSpPr>
          <p:cNvPr id="51" name="module body 12"/>
          <p:cNvSpPr txBox="1"/>
          <p:nvPr/>
        </p:nvSpPr>
        <p:spPr>
          <a:xfrm>
            <a:off x="9281160" y="52303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Today, timetable, papers, fees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Three ways to begin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291840"/>
          </a:xfrm>
          <a:prstGeom prst="roundRect">
            <a:avLst>
              <a:gd name="adj" fmla="val 6111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203200" dist="63500" dir="5400000">
              <a:srgbClr val="0B153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6" name="path icon 1"/>
          <p:cNvSpPr txBox="1"/>
          <p:nvPr/>
        </p:nvSpPr>
        <p:spPr>
          <a:xfrm>
            <a:off x="868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▶</a:t>
            </a:r>
            <a:endParaRPr lang="en-US" sz="2200" dirty="0"/>
          </a:p>
        </p:txBody>
      </p:sp>
      <p:sp>
        <p:nvSpPr>
          <p:cNvPr id="7" name="path tag 1"/>
          <p:cNvSpPr txBox="1"/>
          <p:nvPr/>
        </p:nvSpPr>
        <p:spPr>
          <a:xfrm>
            <a:off x="18288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No payment</a:t>
            </a:r>
            <a:endParaRPr lang="en-US" sz="1100" dirty="0"/>
          </a:p>
        </p:txBody>
      </p:sp>
      <p:sp>
        <p:nvSpPr>
          <p:cNvPr id="8" name="path title 1"/>
          <p:cNvSpPr txBox="1"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Book a demo</a:t>
            </a:r>
            <a:endParaRPr lang="en-US" sz="2200" dirty="0"/>
          </a:p>
        </p:txBody>
      </p:sp>
      <p:sp>
        <p:nvSpPr>
          <p:cNvPr id="9" name="path body 1"/>
          <p:cNvSpPr txBox="1"/>
          <p:nvPr/>
        </p:nvSpPr>
        <p:spPr>
          <a:xfrm>
            <a:off x="868680" y="3429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 minutes online. See the complete ERP on web and Android, ask questions live.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66160" cy="3291840"/>
          </a:xfrm>
          <a:prstGeom prst="roundRect">
            <a:avLst>
              <a:gd name="adj" fmla="val 6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63500" dir="5400000">
              <a:srgbClr val="0B153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659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path icon 2"/>
          <p:cNvSpPr txBox="1"/>
          <p:nvPr/>
        </p:nvSpPr>
        <p:spPr>
          <a:xfrm>
            <a:off x="46634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14</a:t>
            </a:r>
            <a:endParaRPr lang="en-US" sz="2200" dirty="0"/>
          </a:p>
        </p:txBody>
      </p:sp>
      <p:sp>
        <p:nvSpPr>
          <p:cNvPr id="13" name="path tag 2"/>
          <p:cNvSpPr txBox="1"/>
          <p:nvPr/>
        </p:nvSpPr>
        <p:spPr>
          <a:xfrm>
            <a:off x="56235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BE6FF"/>
                </a:solidFill>
              </a:rPr>
              <a:t>Most popular</a:t>
            </a:r>
            <a:endParaRPr lang="en-US" sz="1100" dirty="0"/>
          </a:p>
        </p:txBody>
      </p:sp>
      <p:sp>
        <p:nvSpPr>
          <p:cNvPr id="14" name="path title 2"/>
          <p:cNvSpPr txBox="1"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Free trial</a:t>
            </a:r>
            <a:endParaRPr lang="en-US" sz="2200" dirty="0"/>
          </a:p>
        </p:txBody>
      </p:sp>
      <p:sp>
        <p:nvSpPr>
          <p:cNvPr id="15" name="path body 2"/>
          <p:cNvSpPr txBox="1"/>
          <p:nvPr/>
        </p:nvSpPr>
        <p:spPr>
          <a:xfrm>
            <a:off x="4663440" y="3429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F"/>
                </a:solidFill>
              </a:rPr>
              <a:t>Try Anekio for 14 days with your own school data. No card needed.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566160" cy="3291840"/>
          </a:xfrm>
          <a:prstGeom prst="roundRect">
            <a:avLst>
              <a:gd name="adj" fmla="val 6111"/>
            </a:avLst>
          </a:prstGeom>
          <a:solidFill>
            <a:schemeClr val="bg1"/>
          </a:solidFill>
          <a:ln w="12700">
            <a:solidFill>
              <a:srgbClr val="E3E9F3"/>
            </a:solidFill>
            <a:prstDash val="solid"/>
          </a:ln>
          <a:effectLst>
            <a:outerShdw sx="100000" sy="100000" kx="0" ky="0" algn="bl" rotWithShape="0" blurRad="203200" dist="63500" dir="5400000">
              <a:srgbClr val="0B153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1965960"/>
            <a:ext cx="731520" cy="731520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8" name="path icon 3"/>
          <p:cNvSpPr txBox="1"/>
          <p:nvPr/>
        </p:nvSpPr>
        <p:spPr>
          <a:xfrm>
            <a:off x="84582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₹</a:t>
            </a:r>
            <a:endParaRPr lang="en-US" sz="2200" dirty="0"/>
          </a:p>
        </p:txBody>
      </p:sp>
      <p:sp>
        <p:nvSpPr>
          <p:cNvPr id="19" name="path tag 3"/>
          <p:cNvSpPr txBox="1"/>
          <p:nvPr/>
        </p:nvSpPr>
        <p:spPr>
          <a:xfrm>
            <a:off x="941832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Launch offer</a:t>
            </a:r>
            <a:endParaRPr lang="en-US" sz="1100" dirty="0"/>
          </a:p>
        </p:txBody>
      </p:sp>
      <p:sp>
        <p:nvSpPr>
          <p:cNvPr id="20" name="path title 3"/>
          <p:cNvSpPr txBox="1"/>
          <p:nvPr/>
        </p:nvSpPr>
        <p:spPr>
          <a:xfrm>
            <a:off x="84582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Launch now</a:t>
            </a:r>
            <a:endParaRPr lang="en-US" sz="2200" dirty="0"/>
          </a:p>
        </p:txBody>
      </p:sp>
      <p:sp>
        <p:nvSpPr>
          <p:cNvPr id="21" name="path body 3"/>
          <p:cNvSpPr txBox="1"/>
          <p:nvPr/>
        </p:nvSpPr>
        <p:spPr>
          <a:xfrm>
            <a:off x="8458200" y="34290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Annual plan with setup support included. Pay by UPI or card.</a:t>
            </a:r>
            <a:endParaRPr lang="en-US" sz="1400" dirty="0"/>
          </a:p>
        </p:txBody>
      </p:sp>
      <p:sp>
        <p:nvSpPr>
          <p:cNvPr id="22" name="contact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anekio.com  ·  support@anekio.com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914400" cy="914400"/>
          </a:xfrm>
          <a:prstGeom prst="rect">
            <a:avLst/>
          </a:prstGeom>
        </p:spPr>
      </p:pic>
      <p:sp>
        <p:nvSpPr>
          <p:cNvPr id="3" name="closing"/>
          <p:cNvSpPr txBox="1"/>
          <p:nvPr/>
        </p:nvSpPr>
        <p:spPr>
          <a:xfrm>
            <a:off x="640080" y="3108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One platform.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One school record.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Every team connected.</a:t>
            </a:r>
            <a:endParaRPr lang="en-US" sz="3600" dirty="0"/>
          </a:p>
        </p:txBody>
      </p:sp>
      <p:sp>
        <p:nvSpPr>
          <p:cNvPr id="4" name="contact"/>
          <p:cNvSpPr txBox="1"/>
          <p:nvPr/>
        </p:nvSpPr>
        <p:spPr>
          <a:xfrm>
            <a:off x="640080" y="5303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anekio.com  ·  support@anekio.com</a:t>
            </a:r>
            <a:endParaRPr lang="en-US" sz="1600" dirty="0"/>
          </a:p>
        </p:txBody>
      </p:sp>
      <p:pic>
        <p:nvPicPr>
          <p:cNvPr id="5" name="Image 1" descr="framed/12-office-dashboard-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371600"/>
            <a:ext cx="1554480" cy="3038622"/>
          </a:xfrm>
          <a:prstGeom prst="rect">
            <a:avLst/>
          </a:prstGeom>
        </p:spPr>
      </p:pic>
      <p:pic>
        <p:nvPicPr>
          <p:cNvPr id="6" name="Image 2" descr="framed/05-teacher-attend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005840"/>
            <a:ext cx="1554480" cy="3038622"/>
          </a:xfrm>
          <a:prstGeom prst="rect">
            <a:avLst/>
          </a:prstGeom>
        </p:spPr>
      </p:pic>
      <p:pic>
        <p:nvPicPr>
          <p:cNvPr id="7" name="Image 3" descr="framed/01-parent-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1371600"/>
            <a:ext cx="1554480" cy="30386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ekio">
  <a:themeElements>
    <a:clrScheme name="Anekio">
      <a:dk1>
        <a:srgbClr val="0B1530"/>
      </a:dk1>
      <a:lt1>
        <a:srgbClr val="FFFFFF"/>
      </a:lt1>
      <a:dk2>
        <a:srgbClr val="334761"/>
      </a:dk2>
      <a:lt2>
        <a:srgbClr val="F3F6FC"/>
      </a:lt2>
      <a:accent1>
        <a:srgbClr val="2855F6"/>
      </a:accent1>
      <a:accent2>
        <a:srgbClr val="22C1F0"/>
      </a:accent2>
      <a:accent3>
        <a:srgbClr val="14B889"/>
      </a:accent3>
      <a:accent4>
        <a:srgbClr val="F5B93F"/>
      </a:accent4>
      <a:accent5>
        <a:srgbClr val="FF5D7A"/>
      </a:accent5>
      <a:accent6>
        <a:srgbClr val="8DFFD2"/>
      </a:accent6>
      <a:hlink>
        <a:srgbClr val="2855F6"/>
      </a:hlink>
      <a:folHlink>
        <a:srgbClr val="22C1F0"/>
      </a:folHlink>
    </a:clrScheme>
    <a:fontScheme name="Anek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Anekio — School ERP for Indian schools</dc:title>
  <dc:subject>PptxGenJS Presentation</dc:subject>
  <dc:creator>Anekio</dc:creator>
  <cp:lastModifiedBy>Anekio</cp:lastModifiedBy>
  <cp:revision>1</cp:revision>
  <dcterms:created xsi:type="dcterms:W3CDTF">2026-10-18T12:53:58Z</dcterms:created>
  <dcterms:modified xsi:type="dcterms:W3CDTF">2026-10-18T12:53:58Z</dcterms:modified>
</cp:coreProperties>
</file>